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roundRect">
            <a:avLst>
              <a:gd name="adj" fmla="val 22581"/>
            </a:avLst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82296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DB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Промышленная водоподготовка и очистка сточных вод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ранее ООО «БМТ»  ·  специалисты с опытом 10–25 лет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D5DB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gsk-tech.ru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КОМПАНИИ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Инжиниринговая компания полного цикла в промышленной водоподготовке и очистке сточных вод. Собственное производство, аттестованная лаборатория и проектный штат. Технологическое ядро — баромембранные технологии.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офис — в Москве. В 2026 году вошла в состав Горно-строительной компании. Инженеры и технологи работают в отрасли по 10–25 лет, с опытом проектов в России, странах СНГ и за рубежом.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1463040"/>
            <a:ext cx="4599432" cy="45720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572768"/>
            <a:ext cx="395935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60920" y="217170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лет опыта у специалистов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60920" y="2606040"/>
            <a:ext cx="3959352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2715768"/>
            <a:ext cx="395935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60920" y="331470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внедрённых установок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60920" y="3749040"/>
            <a:ext cx="3959352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3858768"/>
            <a:ext cx="395935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360920" y="445770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сотрудников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60920" y="4892040"/>
            <a:ext cx="3959352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5001768"/>
            <a:ext cx="395935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28 000 м²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360920" y="560070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производственных площадей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СОСТАВЕ ГРУППЫ ГСК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3383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45352" y="1508760"/>
            <a:ext cx="5394960" cy="3383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 ВОДЫ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65392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СТРОИТЕЛЬНАЯ ЧАСТЬ ГРУППЫ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обследование и подбор технологии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очистных сооружений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 оборудования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 и пусконаладка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и поставка расходников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65392" y="22860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земляные работы и котлованы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ограждения котлованов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свайные основания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подземные сооружения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монолитные конструкции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166360"/>
            <a:ext cx="11091672" cy="868680"/>
          </a:xfrm>
          <a:prstGeom prst="rect">
            <a:avLst/>
          </a:prstGeom>
          <a:solidFill>
            <a:srgbClr val="2C415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166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договор.   Один генподрядчик.   Одна ответственность за сроки.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ЦИКЛ УСЛУГ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0" y="2537460"/>
            <a:ext cx="846734" cy="0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965960"/>
            <a:ext cx="1143000" cy="1143000"/>
          </a:xfrm>
          <a:prstGeom prst="ellipse">
            <a:avLst/>
          </a:prstGeom>
          <a:solidFill>
            <a:srgbClr val="2C415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659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32461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Экологическое обследование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18534" y="2537460"/>
            <a:ext cx="846734" cy="0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75534" y="1965960"/>
            <a:ext cx="1143000" cy="1143000"/>
          </a:xfrm>
          <a:prstGeom prst="ellipse">
            <a:avLst/>
          </a:prstGeom>
          <a:solidFill>
            <a:srgbClr val="2C4157"/>
          </a:solidFill>
          <a:ln/>
        </p:spPr>
      </p:sp>
      <p:sp>
        <p:nvSpPr>
          <p:cNvPr id="9" name="Text 7"/>
          <p:cNvSpPr/>
          <p:nvPr/>
        </p:nvSpPr>
        <p:spPr>
          <a:xfrm>
            <a:off x="2675534" y="19659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355494" y="32461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технологических решений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08269" y="2537460"/>
            <a:ext cx="846734" cy="0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5269" y="1965960"/>
            <a:ext cx="1143000" cy="1143000"/>
          </a:xfrm>
          <a:prstGeom prst="ellipse">
            <a:avLst/>
          </a:prstGeom>
          <a:solidFill>
            <a:srgbClr val="2C4157"/>
          </a:solidFill>
          <a:ln/>
        </p:spPr>
      </p:sp>
      <p:sp>
        <p:nvSpPr>
          <p:cNvPr id="13" name="Text 11"/>
          <p:cNvSpPr/>
          <p:nvPr/>
        </p:nvSpPr>
        <p:spPr>
          <a:xfrm>
            <a:off x="4665269" y="19659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345229" y="32461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очистных сооружений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98003" y="2537460"/>
            <a:ext cx="846734" cy="0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5003" y="1965960"/>
            <a:ext cx="1143000" cy="1143000"/>
          </a:xfrm>
          <a:prstGeom prst="ellipse">
            <a:avLst/>
          </a:prstGeom>
          <a:solidFill>
            <a:srgbClr val="2C4157"/>
          </a:solidFill>
          <a:ln/>
        </p:spPr>
      </p:sp>
      <p:sp>
        <p:nvSpPr>
          <p:cNvPr id="17" name="Text 15"/>
          <p:cNvSpPr/>
          <p:nvPr/>
        </p:nvSpPr>
        <p:spPr>
          <a:xfrm>
            <a:off x="6655003" y="19659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34963" y="32461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 оборудования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787738" y="2537460"/>
            <a:ext cx="846734" cy="0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44738" y="1965960"/>
            <a:ext cx="1143000" cy="1143000"/>
          </a:xfrm>
          <a:prstGeom prst="ellipse">
            <a:avLst/>
          </a:prstGeom>
          <a:solidFill>
            <a:srgbClr val="2C4157"/>
          </a:solidFill>
          <a:ln/>
        </p:spPr>
      </p:sp>
      <p:sp>
        <p:nvSpPr>
          <p:cNvPr id="21" name="Text 19"/>
          <p:cNvSpPr/>
          <p:nvPr/>
        </p:nvSpPr>
        <p:spPr>
          <a:xfrm>
            <a:off x="8644738" y="19659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324698" y="32461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 и пусконаладка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634472" y="1965960"/>
            <a:ext cx="1143000" cy="1143000"/>
          </a:xfrm>
          <a:prstGeom prst="ellipse">
            <a:avLst/>
          </a:prstGeom>
          <a:solidFill>
            <a:srgbClr val="2C4157"/>
          </a:solidFill>
          <a:ln/>
        </p:spPr>
      </p:sp>
      <p:sp>
        <p:nvSpPr>
          <p:cNvPr id="24" name="Text 22"/>
          <p:cNvSpPr/>
          <p:nvPr/>
        </p:nvSpPr>
        <p:spPr>
          <a:xfrm>
            <a:off x="10634472" y="19659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314432" y="32461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и постгарантийное обслуживание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отбора пробы до сервиса — в одних руках.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 СТОЧНЫХ ВОД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технологий и изготовление оборудования для очистки промышленных и хозяйственно-бытовых сточных вод.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5852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горнодобывающий и обогатительный комплекс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полигоны твёрдых коммунальных отходов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гальванические производства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металлургия, машиностроение, электроника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предприятия ЖКХ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пищевая промышленность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транспортные предприятия, АЗС, нефтебазы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508760"/>
            <a:ext cx="4782312" cy="4526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1508760"/>
            <a:ext cx="45994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Резервуарный парк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блочно-модульная станция очистки стоков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ПРОМЫШЛЕННАЯ ВОДОПОДГОТОВКА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782312" cy="4526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45994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Мембранный зал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обратного осмоса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60720" y="1508760"/>
            <a:ext cx="5879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технологий и производство оборудования для получения обессоленной воды для технологических процессов. Отдельное направление — опреснение морской воды.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60720" y="2606040"/>
            <a:ext cx="58795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теплоэнергетика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ликёро-водочное и безалкогольное производство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фармацевтика и парфюмерия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пищевая промышленность и металлургия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электроника и микроэлектроника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нефтегазовая отрасль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химическая, стекольная, гальваника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1296" cy="13258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8191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Баромембранные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77240" y="2020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обратный осмос, нанофильтрация, ультра- и микрофильтрация; опреснение морской воды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38828" y="1417320"/>
            <a:ext cx="3511296" cy="13258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7428" y="158191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Реагентные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67428" y="2020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коагуляция, флокуляция, нейтрализация, осаждение металлов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29016" y="1417320"/>
            <a:ext cx="3511296" cy="13258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57616" y="158191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Сорбционные и ионообменные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357616" y="2020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доочистка, умягчение, извлечение ценных компонентов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511296" cy="13258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9067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Биологические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" y="352958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органики и биогенных элементов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38828" y="2926080"/>
            <a:ext cx="3511296" cy="13258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7428" y="309067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Физические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67428" y="352958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флотация, отстаивание, фильтрация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29016" y="2926080"/>
            <a:ext cx="3511296" cy="13258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309067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осадка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57616" y="352958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сгущение, обезвоживание на фильтр-прессе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1627632" cy="5029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26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76272" y="4526280"/>
            <a:ext cx="265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441448" y="4526280"/>
            <a:ext cx="1627632" cy="5029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41448" y="4526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предочистка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69080" y="4526280"/>
            <a:ext cx="265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34256" y="4526280"/>
            <a:ext cx="1627632" cy="502920"/>
          </a:xfrm>
          <a:prstGeom prst="rect">
            <a:avLst/>
          </a:prstGeom>
          <a:solidFill>
            <a:srgbClr val="2C4157"/>
          </a:solidFill>
          <a:ln w="12700">
            <a:solidFill>
              <a:srgbClr val="2C41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34256" y="4526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мембранный блок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61888" y="4526280"/>
            <a:ext cx="265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27064" y="4526280"/>
            <a:ext cx="1627632" cy="5029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4526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доочистка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54696" y="4526280"/>
            <a:ext cx="265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19872" y="4526280"/>
            <a:ext cx="1627632" cy="5029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9872" y="4526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осадка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747504" y="4526280"/>
            <a:ext cx="265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012680" y="4526280"/>
            <a:ext cx="1627632" cy="5029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12680" y="4526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очищенная вода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Технологическое ядро — баромембранное разделение под давлением.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НИОКР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разрабатывается под конкретный сток, а не подбирается по каталогу. Выполнены сотни исследовательских работ, стендовых и пилотных испытаний, доведённых до аппаратурного оформления на площадках заказчиков.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5852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фундаментальные и прикладные исследования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апробирование технологий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стендовые и пилотные испытания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и серийное оформление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508760"/>
            <a:ext cx="4782312" cy="4526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1508760"/>
            <a:ext cx="45994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Лаборатория и пилотная установка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площадке заказчика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937760" cy="4526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47548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Аналитическая лаборатория: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с пробами, титрование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97880" y="1508760"/>
            <a:ext cx="5742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Аттестованная аналитическая лаборатория. Анализ пробы заказчика проводится до заключения договора — технология подбирается по фактическому составу воды.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97880" y="3200400"/>
            <a:ext cx="5742432" cy="123444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0" y="320040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092440" y="3200400"/>
            <a:ext cx="3273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показателей химического анализа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97880" y="4617720"/>
            <a:ext cx="5742432" cy="123444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4617720"/>
            <a:ext cx="5193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Аттестат аккредитации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2200" y="5120640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 и срок действия — актуальные на дату выпуска (вписать)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документация по составу, установленному Постановлением Правительства № 87. Собственный проектный штат, опыт прохождения государственных экспертиз.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6400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технологические и архитектурно-строительные решения, инженерные сети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мероприятия по охране окружающей среды, сметная документация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членство в СРО на проектные, строительно-монтажные и изыскательские работы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ГИПы в Национальном реестре специалистов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 главгосэкспертизы и государственной экологической экспертизы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223760" y="1463040"/>
            <a:ext cx="4416552" cy="27889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463040"/>
            <a:ext cx="42336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Проектный отдел: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чертежи, 3D-модель очистных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394960"/>
            <a:ext cx="3511296" cy="77724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394960"/>
            <a:ext cx="3511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 · Проектирование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8828" y="5394960"/>
            <a:ext cx="3511296" cy="77724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38828" y="5394960"/>
            <a:ext cx="3511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 · СМР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9016" y="5394960"/>
            <a:ext cx="3511296" cy="77724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9016" y="5394960"/>
            <a:ext cx="3511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 · Изыскания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Собственные цеха. Оборудование изготавливается, а не перепродаётся. Система менеджмента качества ISO 9001.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28 000 м²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3081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производственных площадей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383280" y="3081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единиц серийного оборудования в год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блочно-модульные установки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ёмкостное оборудование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фильтры и мембранные блоки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системы дозирования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шкафы автоматики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готовые изделия на отгрузке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463040"/>
            <a:ext cx="2587752" cy="2240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63040"/>
            <a:ext cx="240487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Цех сборки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61704" y="1463040"/>
            <a:ext cx="2587752" cy="2240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53144" y="1463040"/>
            <a:ext cx="240487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Ёмкостное оборудование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3822192"/>
            <a:ext cx="2587752" cy="2240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822192"/>
            <a:ext cx="240487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Мембранный блок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61704" y="3822192"/>
            <a:ext cx="2587752" cy="2240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53144" y="3822192"/>
            <a:ext cx="240487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Шкаф автоматики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МОНТАЖ, ПУСКОНАЛАДКА, СЕРВИС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отгрузки заказчик не остаётся один. Оборудование выводится на проектные показатели, персонал заказчика обучается, поставляются мембраны и реагенты.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СМР и шеф-монтаж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пусконаладка и вывод на проектные показатели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персонала заказчика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регламентное обслуживание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поставка мембран, загрузок и реагентов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508760"/>
            <a:ext cx="4782312" cy="21945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1508760"/>
            <a:ext cx="45994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 оборудования на объекте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0"/>
            <a:ext cx="4782312" cy="21945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3840480"/>
            <a:ext cx="45994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Щит управления / шкаф автоматики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СОТРУДНИЧЕСТВО И НАУКА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192024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Профильный вуз / совместная лаборатория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45352" y="1508760"/>
            <a:ext cx="5394960" cy="192024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36792" y="150876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Природный объект нацпроекта «Экология»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45352" y="3611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НАЦИОНАЛЬНЫЕ ПРОЕКТЫ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РХТУ им. Д.И. Менделеева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МФТИ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Московский политехнический университет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ИГХТУ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ВлГУ им. Столетовых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45352" y="402336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«Экология» (программа «Чистая страна»)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«Наука и университеты»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совместные НИОКР, практика и обучение студентов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ПОСТАВОК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Реализованные проекты в России, странах СНГ и за рубежом.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2519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67665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Города поставок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 · Норильск · Байкальск · Североуральск 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Иркутск · Тула · Волгоградская обл. · Казахстан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0" y="1554480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0" y="237744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объектов очистки стоков в год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0" y="2926080"/>
            <a:ext cx="3867912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3017520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772400" y="384048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объектов водоподготовки в год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0" y="4389120"/>
            <a:ext cx="3867912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4480560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772400" y="530352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единиц серийного оборудования в год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РАЗРЕШИТЕЛЬНЫЕ ДОКУМЕНТЫ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12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1005840" cy="12801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65960" y="16916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Декларация ТР ТС ЕАЭС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8828" y="1463040"/>
            <a:ext cx="35112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3148" y="1691640"/>
            <a:ext cx="1005840" cy="12801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3148" y="169164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56148" y="16916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 — менеджмент качества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9016" y="1463040"/>
            <a:ext cx="35112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03336" y="1691640"/>
            <a:ext cx="1005840" cy="12801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169164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46336" y="16916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14001 — экологический менеджмент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35112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657600"/>
            <a:ext cx="1005840" cy="12801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57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65960" y="365760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Сертификаты на продукцию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38828" y="3429000"/>
            <a:ext cx="35112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3148" y="3657600"/>
            <a:ext cx="1005840" cy="12801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3148" y="3657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56148" y="365760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Выписки СРО (проект., СМР, изыскания)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29016" y="3429000"/>
            <a:ext cx="35112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03336" y="3657600"/>
            <a:ext cx="1005840" cy="12801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03336" y="3657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46336" y="365760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Аттестат аккредитации лаборатории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переоформляются на новое наименование; до завершения действуют в текущем виде под брендом «ГСК технологии (ранее ООО «БМТ»)».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ПРОМЫШЛЕННЫЕ ОТХОДЫ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«КРАСНЫЙ БОР»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ОПИ, подбор технологии, ПД и РД, главгосэкспертиза и ГЭЭ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529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4553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и 220 м³/ч, очистка по 110 показателям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484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4106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Ленинградская область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4398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3659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2021–2022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показателей очистки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Станция очистки промышленных отходов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ПРОМЫШЛЕННЫЕ ОТХОДЫ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АО «БАЙКАЛЬСКИЙ ЦБК»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ОПИ, технология, ПД и РД, экспертизы, поставка, ввод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529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4553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и 100 м³/ч, 32 показателя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484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4106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Байкальск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4398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3659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2021–2024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показателя очистки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Очистные сооружения, Байкальск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ГОК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ОАО «УРАЛМЕХАНОБР» · РУДНИК «ОКТЯБРЬСКИЙ»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НИР, ПД и РД, сопровождение госэкспертизы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7860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7121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2400 м³/ч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7413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6674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Норильск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5993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6966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46227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85546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м³/ч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рудника «Октябрьский»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ГОК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АО «БОКСИТ ТИМАНА»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ПД, поставка оборудования и реагентов, ПНР; карьерные воды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529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4553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2500 м³/ч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484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4106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Республика Коми, Емва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4398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3659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2017–2019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м³/ч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 карьерных вод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ШАХТНЫЕ ВОДЫ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АО «СУБР» · ШАХТА «ЧЕРЕМУХОВСКАЯ»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ПД и реконструкция очистных сооружений шахты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7860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7121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с 800 до 3000 м³/ч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7413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6674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Североуральск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5993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6966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46227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2017–2020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85546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800→3000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м³/ч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Реконструированные очистные шахты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ГОК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ПАО «ГМК «НОРИЛЬСКИЙ НИКЕЛЬ»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 шахтных вод рудника «Ангидрит» и карьерных вод карьера «Кайерканский»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529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4553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и 1000 м³/ч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484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4106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Норильск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4398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3659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2016–2018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м³/ч (карьерные воды)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 Норильского района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ХИМИЯ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«ИРКУТСКАЯ ХИМИЧЕСКАЯ КОМПАНИЯ»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получения карбоната лития из гидроминерального сырья, ПД и РД, поставка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529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4553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м³/ч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484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4106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Иркутск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4398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3659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2023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Li₂CO₃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карбонат лития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получения карбоната лития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ГАЛЬВАНИКА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АО «ЩЕГЛОВСКИЙ ВАЛ»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ПД, поставка, ПНР; замкнутый водооборот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7860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7121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 м³/ч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7413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6674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Тула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5993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6966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46227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85546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сброс — замкнутый водооборот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Компактная установка в цехе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ВОДОПОДГОТОВКА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«НЬЮБИО»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водоподготовки для глубокой переработки зерна кукурузы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529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4553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м³/ч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484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4106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Волгоградская область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4398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3659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м³/ч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водоподготовки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ДОВЕРЯЮТ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0020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Норникель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03550" y="160020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94990" y="160020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Ростех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58461" y="160020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9901" y="160020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РЖД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3371" y="160020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4811" y="160020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СИБУР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568282" y="160020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59722" y="160020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Роскосмос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5468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Росатом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03550" y="315468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94990" y="315468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ЛУКОЙЛ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58461" y="315468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9901" y="315468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СУЭК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3371" y="315468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4811" y="315468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Татнефть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568282" y="315468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9722" y="315468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Иркутская нефтяная компания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0916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ОАК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03550" y="470916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94990" y="470916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Мосэнерго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58461" y="470916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9901" y="470916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холдинг «Титан»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3371" y="470916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4811" y="470916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Яндекс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каждому логотипу — договор и согласие на упоминание.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НАЧАТЬ РАБОТУ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11296" cy="30175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03120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2962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присылаете протокол анализа воды и требуемые показатели на выходе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059936" y="1828800"/>
            <a:ext cx="2788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38828" y="1828800"/>
            <a:ext cx="3511296" cy="30175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3148" y="2103120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13148" y="3154680"/>
            <a:ext cx="2962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возвращаемся с технологической схемой и предварительной оценкой стоимости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50124" y="1828800"/>
            <a:ext cx="2788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129016" y="1828800"/>
            <a:ext cx="3511296" cy="30175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3336" y="2103120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403336" y="3154680"/>
            <a:ext cx="2962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необходимости проводим опытно-промышленные испытания на вашей площадке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ответа — согласованный с коммерческим отделом (вписать в рабочих днях).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C4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«ГСК ТЕХНОЛОГИИ»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ранее ООО «БМТ»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ОФИС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Москва, ул. Большая Академическая, 5с3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gsk-tech.ru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info@gsk-tech.ru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303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5577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…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595360" y="1828800"/>
            <a:ext cx="256032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182880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9536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B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сайт компании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ГСК технологии — промышленная водоподготовка и очистка сточных вод</dc:title>
  <dc:subject>PptxGenJS Presentation</dc:subject>
  <dc:creator>ГСК технологии</dc:creator>
  <cp:lastModifiedBy>ГСК технологии</cp:lastModifiedBy>
  <cp:revision>1</cp:revision>
  <dcterms:created xsi:type="dcterms:W3CDTF">2026-07-27T17:44:20Z</dcterms:created>
  <dcterms:modified xsi:type="dcterms:W3CDTF">2026-07-27T17:44:20Z</dcterms:modified>
</cp:coreProperties>
</file>